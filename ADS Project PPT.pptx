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  <p:sldMasterId id="214748367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25DA19-AE9B-4EFD-B349-A7B53D44E1C6}">
  <a:tblStyle styleId="{4925DA19-AE9B-4EFD-B349-A7B53D44E1C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4B6E7EE-14F6-4226-B892-180207709AC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8a0b852d3_3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d8a0b852d3_3_287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8a8d72fa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d8a8d72fa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8a8d72fa5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8a8d72fa5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7e09c8e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e7e09c8ef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7e09c8ef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7e09c8ef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7e09c8ef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7e09c8ef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8c97bc82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d8c97bc823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8a8d72fa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d8a8d72fa5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8a8d72fa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d8a8d72fa5_1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8a8d72fa5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d8a8d72fa5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8a8d72fa5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d8a8d72fa5_1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showMasterSp="0" type="obj">
  <p:cSld name="OBJEC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4899419"/>
            <a:ext cx="9126379" cy="216694"/>
          </a:xfrm>
          <a:custGeom>
            <a:rect b="b" l="l" r="r" t="t"/>
            <a:pathLst>
              <a:path extrusionOk="0" h="288925" w="12168505">
                <a:moveTo>
                  <a:pt x="12168124" y="0"/>
                </a:moveTo>
                <a:lnTo>
                  <a:pt x="0" y="0"/>
                </a:lnTo>
                <a:lnTo>
                  <a:pt x="0" y="288925"/>
                </a:lnTo>
                <a:lnTo>
                  <a:pt x="12168124" y="288925"/>
                </a:lnTo>
                <a:lnTo>
                  <a:pt x="12168124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2" name="Google Shape;52;p13"/>
          <p:cNvSpPr/>
          <p:nvPr/>
        </p:nvSpPr>
        <p:spPr>
          <a:xfrm>
            <a:off x="628650" y="132111"/>
            <a:ext cx="8427244" cy="514350"/>
          </a:xfrm>
          <a:custGeom>
            <a:rect b="b" l="l" r="r" t="t"/>
            <a:pathLst>
              <a:path extrusionOk="0" h="685800" w="11236325">
                <a:moveTo>
                  <a:pt x="11236325" y="0"/>
                </a:moveTo>
                <a:lnTo>
                  <a:pt x="0" y="0"/>
                </a:lnTo>
                <a:lnTo>
                  <a:pt x="0" y="685800"/>
                </a:lnTo>
                <a:lnTo>
                  <a:pt x="11236325" y="685800"/>
                </a:lnTo>
                <a:lnTo>
                  <a:pt x="11236325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3" name="Google Shape;53;p13"/>
          <p:cNvSpPr/>
          <p:nvPr/>
        </p:nvSpPr>
        <p:spPr>
          <a:xfrm>
            <a:off x="303609" y="750094"/>
            <a:ext cx="511016" cy="0"/>
          </a:xfrm>
          <a:custGeom>
            <a:rect b="b" l="l" r="r" t="t"/>
            <a:pathLst>
              <a:path extrusionOk="0" h="120000" w="681355">
                <a:moveTo>
                  <a:pt x="0" y="0"/>
                </a:moveTo>
                <a:lnTo>
                  <a:pt x="681037" y="0"/>
                </a:lnTo>
              </a:path>
            </a:pathLst>
          </a:custGeom>
          <a:noFill/>
          <a:ln cap="flat" cmpd="sng" w="19050">
            <a:solidFill>
              <a:srgbClr val="4470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5959"/>
            <a:ext cx="814387" cy="91797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814387" y="171402"/>
            <a:ext cx="8329613" cy="594360"/>
          </a:xfrm>
          <a:custGeom>
            <a:rect b="b" l="l" r="r" t="t"/>
            <a:pathLst>
              <a:path extrusionOk="0" h="792480" w="11106150">
                <a:moveTo>
                  <a:pt x="11106150" y="0"/>
                </a:moveTo>
                <a:lnTo>
                  <a:pt x="0" y="0"/>
                </a:lnTo>
                <a:lnTo>
                  <a:pt x="0" y="792162"/>
                </a:lnTo>
                <a:lnTo>
                  <a:pt x="11106150" y="792162"/>
                </a:lnTo>
                <a:lnTo>
                  <a:pt x="11106150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2765012" y="4964810"/>
            <a:ext cx="3383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9" name="Google Shape;59;p13"/>
          <p:cNvGraphicFramePr/>
          <p:nvPr/>
        </p:nvGraphicFramePr>
        <p:xfrm>
          <a:off x="1439608" y="2358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{4925DA19-AE9B-4EFD-B349-A7B53D44E1C6}</a:tableStyleId>
              </a:tblPr>
              <a:tblGrid>
                <a:gridCol w="683400"/>
                <a:gridCol w="3348025"/>
                <a:gridCol w="2025475"/>
              </a:tblGrid>
              <a:tr h="277650"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2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Bagul Suraj Siddharth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28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UCS23M1006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28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</a:tr>
              <a:tr h="277650"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2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Borude Yash Ambadas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28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UCS23M1020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28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4"/>
                    </a:solidFill>
                  </a:tcPr>
                </a:tc>
              </a:tr>
              <a:tr h="277650"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2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Chaudhari Abhishek Anil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3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UCS23M1021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3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</a:tr>
              <a:tr h="277650"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2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Gaikwad Vedant Jitendra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3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UCS23M1042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3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4"/>
                    </a:solidFill>
                  </a:tcPr>
                </a:tc>
              </a:tr>
              <a:tr h="277650"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2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Galhate Dnyaneshwar Gokul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28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UCS23M1043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28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0" y="4899419"/>
            <a:ext cx="9126379" cy="216694"/>
          </a:xfrm>
          <a:custGeom>
            <a:rect b="b" l="l" r="r" t="t"/>
            <a:pathLst>
              <a:path extrusionOk="0" h="288925" w="12168505">
                <a:moveTo>
                  <a:pt x="12168124" y="0"/>
                </a:moveTo>
                <a:lnTo>
                  <a:pt x="0" y="0"/>
                </a:lnTo>
                <a:lnTo>
                  <a:pt x="0" y="288925"/>
                </a:lnTo>
                <a:lnTo>
                  <a:pt x="12168124" y="288925"/>
                </a:lnTo>
                <a:lnTo>
                  <a:pt x="12168124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2" name="Google Shape;72;p15"/>
          <p:cNvSpPr/>
          <p:nvPr/>
        </p:nvSpPr>
        <p:spPr>
          <a:xfrm>
            <a:off x="628650" y="132111"/>
            <a:ext cx="8427244" cy="514350"/>
          </a:xfrm>
          <a:custGeom>
            <a:rect b="b" l="l" r="r" t="t"/>
            <a:pathLst>
              <a:path extrusionOk="0" h="685800" w="11236325">
                <a:moveTo>
                  <a:pt x="11236325" y="0"/>
                </a:moveTo>
                <a:lnTo>
                  <a:pt x="0" y="0"/>
                </a:lnTo>
                <a:lnTo>
                  <a:pt x="0" y="685800"/>
                </a:lnTo>
                <a:lnTo>
                  <a:pt x="11236325" y="685800"/>
                </a:lnTo>
                <a:lnTo>
                  <a:pt x="11236325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3" name="Google Shape;73;p15"/>
          <p:cNvSpPr/>
          <p:nvPr/>
        </p:nvSpPr>
        <p:spPr>
          <a:xfrm>
            <a:off x="303609" y="750094"/>
            <a:ext cx="511016" cy="0"/>
          </a:xfrm>
          <a:custGeom>
            <a:rect b="b" l="l" r="r" t="t"/>
            <a:pathLst>
              <a:path extrusionOk="0" h="120000" w="681355">
                <a:moveTo>
                  <a:pt x="0" y="0"/>
                </a:moveTo>
                <a:lnTo>
                  <a:pt x="681037" y="0"/>
                </a:lnTo>
              </a:path>
            </a:pathLst>
          </a:custGeom>
          <a:noFill/>
          <a:ln cap="flat" cmpd="sng" w="19050">
            <a:solidFill>
              <a:srgbClr val="4470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5959"/>
            <a:ext cx="814387" cy="91797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814387" y="171402"/>
            <a:ext cx="8329613" cy="594360"/>
          </a:xfrm>
          <a:custGeom>
            <a:rect b="b" l="l" r="r" t="t"/>
            <a:pathLst>
              <a:path extrusionOk="0" h="792480" w="11106150">
                <a:moveTo>
                  <a:pt x="11106150" y="0"/>
                </a:moveTo>
                <a:lnTo>
                  <a:pt x="0" y="0"/>
                </a:lnTo>
                <a:lnTo>
                  <a:pt x="0" y="792162"/>
                </a:lnTo>
                <a:lnTo>
                  <a:pt x="11106150" y="792162"/>
                </a:lnTo>
                <a:lnTo>
                  <a:pt x="11106150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2765012" y="4964810"/>
            <a:ext cx="3383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090101" y="224561"/>
            <a:ext cx="321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504825" y="1079753"/>
            <a:ext cx="40449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2765012" y="4964810"/>
            <a:ext cx="3383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090101" y="224561"/>
            <a:ext cx="321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401955" y="985837"/>
            <a:ext cx="32391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1" type="ftr"/>
          </p:nvPr>
        </p:nvSpPr>
        <p:spPr>
          <a:xfrm>
            <a:off x="2765012" y="4964810"/>
            <a:ext cx="3383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090101" y="224561"/>
            <a:ext cx="321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1" type="ftr"/>
          </p:nvPr>
        </p:nvSpPr>
        <p:spPr>
          <a:xfrm>
            <a:off x="2765012" y="4964810"/>
            <a:ext cx="3383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1" type="ftr"/>
          </p:nvPr>
        </p:nvSpPr>
        <p:spPr>
          <a:xfrm>
            <a:off x="2765012" y="4964810"/>
            <a:ext cx="3383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>
            <a:off x="0" y="4899419"/>
            <a:ext cx="9126379" cy="216694"/>
          </a:xfrm>
          <a:custGeom>
            <a:rect b="b" l="l" r="r" t="t"/>
            <a:pathLst>
              <a:path extrusionOk="0" h="288925" w="12168505">
                <a:moveTo>
                  <a:pt x="12168124" y="0"/>
                </a:moveTo>
                <a:lnTo>
                  <a:pt x="0" y="0"/>
                </a:lnTo>
                <a:lnTo>
                  <a:pt x="0" y="288925"/>
                </a:lnTo>
                <a:lnTo>
                  <a:pt x="12168124" y="288925"/>
                </a:lnTo>
                <a:lnTo>
                  <a:pt x="12168124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5" name="Google Shape;115;p21"/>
          <p:cNvSpPr/>
          <p:nvPr/>
        </p:nvSpPr>
        <p:spPr>
          <a:xfrm>
            <a:off x="628650" y="132111"/>
            <a:ext cx="8427244" cy="514350"/>
          </a:xfrm>
          <a:custGeom>
            <a:rect b="b" l="l" r="r" t="t"/>
            <a:pathLst>
              <a:path extrusionOk="0" h="685800" w="11236325">
                <a:moveTo>
                  <a:pt x="11236325" y="0"/>
                </a:moveTo>
                <a:lnTo>
                  <a:pt x="0" y="0"/>
                </a:lnTo>
                <a:lnTo>
                  <a:pt x="0" y="685800"/>
                </a:lnTo>
                <a:lnTo>
                  <a:pt x="11236325" y="685800"/>
                </a:lnTo>
                <a:lnTo>
                  <a:pt x="11236325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6" name="Google Shape;116;p21"/>
          <p:cNvSpPr/>
          <p:nvPr/>
        </p:nvSpPr>
        <p:spPr>
          <a:xfrm>
            <a:off x="303609" y="750094"/>
            <a:ext cx="511016" cy="0"/>
          </a:xfrm>
          <a:custGeom>
            <a:rect b="b" l="l" r="r" t="t"/>
            <a:pathLst>
              <a:path extrusionOk="0" h="120000" w="681355">
                <a:moveTo>
                  <a:pt x="0" y="0"/>
                </a:moveTo>
                <a:lnTo>
                  <a:pt x="681037" y="0"/>
                </a:lnTo>
              </a:path>
            </a:pathLst>
          </a:custGeom>
          <a:noFill/>
          <a:ln cap="flat" cmpd="sng" w="14300">
            <a:solidFill>
              <a:srgbClr val="4470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17" name="Google Shape;11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5959"/>
            <a:ext cx="814387" cy="9179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814387" y="171402"/>
            <a:ext cx="8329613" cy="594360"/>
          </a:xfrm>
          <a:custGeom>
            <a:rect b="b" l="l" r="r" t="t"/>
            <a:pathLst>
              <a:path extrusionOk="0" h="792480" w="11106150">
                <a:moveTo>
                  <a:pt x="11106150" y="0"/>
                </a:moveTo>
                <a:lnTo>
                  <a:pt x="0" y="0"/>
                </a:lnTo>
                <a:lnTo>
                  <a:pt x="0" y="792162"/>
                </a:lnTo>
                <a:lnTo>
                  <a:pt x="11106150" y="792162"/>
                </a:lnTo>
                <a:lnTo>
                  <a:pt x="11106150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9" name="Google Shape;119;p21"/>
          <p:cNvSpPr txBox="1"/>
          <p:nvPr>
            <p:ph idx="11" type="ftr"/>
          </p:nvPr>
        </p:nvSpPr>
        <p:spPr>
          <a:xfrm>
            <a:off x="2765012" y="4964810"/>
            <a:ext cx="3383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090101" y="224561"/>
            <a:ext cx="321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504825" y="1079753"/>
            <a:ext cx="40449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2"/>
          <p:cNvSpPr txBox="1"/>
          <p:nvPr>
            <p:ph idx="11" type="ftr"/>
          </p:nvPr>
        </p:nvSpPr>
        <p:spPr>
          <a:xfrm>
            <a:off x="2765012" y="4964810"/>
            <a:ext cx="3383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090101" y="224561"/>
            <a:ext cx="321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401955" y="985837"/>
            <a:ext cx="3238800" cy="3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11" type="ftr"/>
          </p:nvPr>
        </p:nvSpPr>
        <p:spPr>
          <a:xfrm>
            <a:off x="2765012" y="4964810"/>
            <a:ext cx="3383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090101" y="224561"/>
            <a:ext cx="321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1" type="ftr"/>
          </p:nvPr>
        </p:nvSpPr>
        <p:spPr>
          <a:xfrm>
            <a:off x="2765012" y="4964810"/>
            <a:ext cx="3383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ctrTitle"/>
          </p:nvPr>
        </p:nvSpPr>
        <p:spPr>
          <a:xfrm>
            <a:off x="685800" y="1594485"/>
            <a:ext cx="77724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5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5"/>
          <p:cNvSpPr txBox="1"/>
          <p:nvPr>
            <p:ph idx="11" type="ftr"/>
          </p:nvPr>
        </p:nvSpPr>
        <p:spPr>
          <a:xfrm>
            <a:off x="2765012" y="4964810"/>
            <a:ext cx="3383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5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theme" Target="../theme/theme1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11906" y="4950616"/>
            <a:ext cx="9098756" cy="161925"/>
          </a:xfrm>
          <a:custGeom>
            <a:rect b="b" l="l" r="r" t="t"/>
            <a:pathLst>
              <a:path extrusionOk="0" h="215900" w="12131675">
                <a:moveTo>
                  <a:pt x="12131675" y="0"/>
                </a:moveTo>
                <a:lnTo>
                  <a:pt x="0" y="0"/>
                </a:lnTo>
                <a:lnTo>
                  <a:pt x="0" y="215900"/>
                </a:lnTo>
                <a:lnTo>
                  <a:pt x="12131675" y="215900"/>
                </a:lnTo>
                <a:lnTo>
                  <a:pt x="12131675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42863"/>
            <a:ext cx="740568" cy="71199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264319" y="760761"/>
            <a:ext cx="8751094" cy="57150"/>
          </a:xfrm>
          <a:custGeom>
            <a:rect b="b" l="l" r="r" t="t"/>
            <a:pathLst>
              <a:path extrusionOk="0" h="76200" w="11668125">
                <a:moveTo>
                  <a:pt x="11668125" y="30619"/>
                </a:moveTo>
                <a:lnTo>
                  <a:pt x="0" y="30619"/>
                </a:lnTo>
                <a:lnTo>
                  <a:pt x="0" y="76200"/>
                </a:lnTo>
                <a:lnTo>
                  <a:pt x="11668125" y="76200"/>
                </a:lnTo>
                <a:lnTo>
                  <a:pt x="11668125" y="30619"/>
                </a:lnTo>
                <a:close/>
              </a:path>
              <a:path extrusionOk="0" h="76200" w="11668125">
                <a:moveTo>
                  <a:pt x="11668125" y="0"/>
                </a:moveTo>
                <a:lnTo>
                  <a:pt x="0" y="0"/>
                </a:lnTo>
                <a:lnTo>
                  <a:pt x="0" y="15367"/>
                </a:lnTo>
                <a:lnTo>
                  <a:pt x="11668125" y="15367"/>
                </a:lnTo>
                <a:lnTo>
                  <a:pt x="11668125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4" name="Google Shape;64;p14"/>
          <p:cNvSpPr/>
          <p:nvPr/>
        </p:nvSpPr>
        <p:spPr>
          <a:xfrm>
            <a:off x="0" y="4826794"/>
            <a:ext cx="9144000" cy="57150"/>
          </a:xfrm>
          <a:custGeom>
            <a:rect b="b" l="l" r="r" t="t"/>
            <a:pathLst>
              <a:path extrusionOk="0" h="76200" w="12192000">
                <a:moveTo>
                  <a:pt x="12192000" y="30480"/>
                </a:moveTo>
                <a:lnTo>
                  <a:pt x="0" y="3048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30480"/>
                </a:lnTo>
                <a:close/>
              </a:path>
              <a:path extrusionOk="0" h="76200" w="12192000">
                <a:moveTo>
                  <a:pt x="12192000" y="0"/>
                </a:moveTo>
                <a:lnTo>
                  <a:pt x="0" y="0"/>
                </a:lnTo>
                <a:lnTo>
                  <a:pt x="0" y="15252"/>
                </a:lnTo>
                <a:lnTo>
                  <a:pt x="12192000" y="1525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3090101" y="224561"/>
            <a:ext cx="321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 u="none" cap="none" strike="noStrike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504825" y="1079753"/>
            <a:ext cx="40449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1" type="ftr"/>
          </p:nvPr>
        </p:nvSpPr>
        <p:spPr>
          <a:xfrm>
            <a:off x="2765012" y="4964810"/>
            <a:ext cx="3383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8" name="Google Shape;68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/>
          <p:nvPr/>
        </p:nvSpPr>
        <p:spPr>
          <a:xfrm>
            <a:off x="11906" y="4950616"/>
            <a:ext cx="9098756" cy="161925"/>
          </a:xfrm>
          <a:custGeom>
            <a:rect b="b" l="l" r="r" t="t"/>
            <a:pathLst>
              <a:path extrusionOk="0" h="215900" w="12131675">
                <a:moveTo>
                  <a:pt x="12131675" y="0"/>
                </a:moveTo>
                <a:lnTo>
                  <a:pt x="0" y="0"/>
                </a:lnTo>
                <a:lnTo>
                  <a:pt x="0" y="215900"/>
                </a:lnTo>
                <a:lnTo>
                  <a:pt x="12131675" y="215900"/>
                </a:lnTo>
                <a:lnTo>
                  <a:pt x="12131675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05" name="Google Shape;105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42863"/>
            <a:ext cx="740568" cy="71199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/>
          <p:nvPr/>
        </p:nvSpPr>
        <p:spPr>
          <a:xfrm>
            <a:off x="264319" y="760761"/>
            <a:ext cx="8751094" cy="57150"/>
          </a:xfrm>
          <a:custGeom>
            <a:rect b="b" l="l" r="r" t="t"/>
            <a:pathLst>
              <a:path extrusionOk="0" h="76200" w="11668125">
                <a:moveTo>
                  <a:pt x="11668125" y="30619"/>
                </a:moveTo>
                <a:lnTo>
                  <a:pt x="0" y="30619"/>
                </a:lnTo>
                <a:lnTo>
                  <a:pt x="0" y="76200"/>
                </a:lnTo>
                <a:lnTo>
                  <a:pt x="11668125" y="76200"/>
                </a:lnTo>
                <a:lnTo>
                  <a:pt x="11668125" y="30619"/>
                </a:lnTo>
                <a:close/>
              </a:path>
              <a:path extrusionOk="0" h="76200" w="11668125">
                <a:moveTo>
                  <a:pt x="11668125" y="0"/>
                </a:moveTo>
                <a:lnTo>
                  <a:pt x="0" y="0"/>
                </a:lnTo>
                <a:lnTo>
                  <a:pt x="0" y="15367"/>
                </a:lnTo>
                <a:lnTo>
                  <a:pt x="11668125" y="15367"/>
                </a:lnTo>
                <a:lnTo>
                  <a:pt x="11668125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7" name="Google Shape;107;p20"/>
          <p:cNvSpPr/>
          <p:nvPr/>
        </p:nvSpPr>
        <p:spPr>
          <a:xfrm>
            <a:off x="0" y="4826794"/>
            <a:ext cx="9144000" cy="57150"/>
          </a:xfrm>
          <a:custGeom>
            <a:rect b="b" l="l" r="r" t="t"/>
            <a:pathLst>
              <a:path extrusionOk="0" h="76200" w="12192000">
                <a:moveTo>
                  <a:pt x="12192000" y="30480"/>
                </a:moveTo>
                <a:lnTo>
                  <a:pt x="0" y="3048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30480"/>
                </a:lnTo>
                <a:close/>
              </a:path>
              <a:path extrusionOk="0" h="76200" w="12192000">
                <a:moveTo>
                  <a:pt x="12192000" y="0"/>
                </a:moveTo>
                <a:lnTo>
                  <a:pt x="0" y="0"/>
                </a:lnTo>
                <a:lnTo>
                  <a:pt x="0" y="15252"/>
                </a:lnTo>
                <a:lnTo>
                  <a:pt x="12192000" y="1525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8" name="Google Shape;108;p20"/>
          <p:cNvSpPr txBox="1"/>
          <p:nvPr>
            <p:ph type="title"/>
          </p:nvPr>
        </p:nvSpPr>
        <p:spPr>
          <a:xfrm>
            <a:off x="3090101" y="224561"/>
            <a:ext cx="321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 u="none" cap="none" strike="noStrike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504825" y="1079753"/>
            <a:ext cx="40449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1" type="ftr"/>
          </p:nvPr>
        </p:nvSpPr>
        <p:spPr>
          <a:xfrm>
            <a:off x="2765012" y="4964810"/>
            <a:ext cx="3383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1" name="Google Shape;111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  <p:sldLayoutId id="2147483666" r:id="rId3"/>
    <p:sldLayoutId id="2147483667" r:id="rId4"/>
    <p:sldLayoutId id="2147483668" r:id="rId5"/>
    <p:sldLayoutId id="2147483669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rxiv.org/abs/2003.05155" TargetMode="External"/><Relationship Id="rId4" Type="http://schemas.openxmlformats.org/officeDocument/2006/relationships/hyperlink" Target="https://arxiv.org/abs/2003.05155" TargetMode="External"/><Relationship Id="rId5" Type="http://schemas.openxmlformats.org/officeDocument/2006/relationships/hyperlink" Target="https://www.ibm.com/topics/crisp-dm" TargetMode="External"/><Relationship Id="rId6" Type="http://schemas.openxmlformats.org/officeDocument/2006/relationships/hyperlink" Target="https://www.ibm.com/topics/crisp-dm" TargetMode="External"/><Relationship Id="rId7" Type="http://schemas.openxmlformats.org/officeDocument/2006/relationships/hyperlink" Target="https://xgboost.readthedocs.io/" TargetMode="External"/><Relationship Id="rId8" Type="http://schemas.openxmlformats.org/officeDocument/2006/relationships/hyperlink" Target="https://xgboost.readthedocs.io/" TargetMode="External"/><Relationship Id="rId9" Type="http://schemas.openxmlformats.org/officeDocument/2006/relationships/hyperlink" Target="https://scikit-learn.org/stable/documentation.html" TargetMode="External"/><Relationship Id="rId10" Type="http://schemas.openxmlformats.org/officeDocument/2006/relationships/hyperlink" Target="https://scikit-learn.org/stable/documentation.html" TargetMode="External"/><Relationship Id="rId11" Type="http://schemas.openxmlformats.org/officeDocument/2006/relationships/hyperlink" Target="https://www.kaggle.com/datasets/rohitsahoo/sales-forecasting" TargetMode="External"/><Relationship Id="rId12" Type="http://schemas.openxmlformats.org/officeDocument/2006/relationships/hyperlink" Target="https://www.kaggle.com/datasets/rohitsahoo/sales-forecasting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/>
        </p:nvSpPr>
        <p:spPr>
          <a:xfrm>
            <a:off x="2220450" y="131344"/>
            <a:ext cx="4703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Sanjivani Rural Education Society's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t>Sanjivani College of Engineering, Kopargaon-423603</a:t>
            </a:r>
          </a:p>
          <a:p>
            <a:r>
              <a:t>Department of Computer Engineering</a:t>
            </a:r>
          </a:p>
        </p:txBody>
      </p:sp>
      <p:sp>
        <p:nvSpPr>
          <p:cNvPr id="151" name="Google Shape;151;p26"/>
          <p:cNvSpPr/>
          <p:nvPr/>
        </p:nvSpPr>
        <p:spPr>
          <a:xfrm>
            <a:off x="27365" y="4799409"/>
            <a:ext cx="9056370" cy="60959"/>
          </a:xfrm>
          <a:custGeom>
            <a:rect b="b" l="l" r="r" t="t"/>
            <a:pathLst>
              <a:path extrusionOk="0" h="81279" w="12075160">
                <a:moveTo>
                  <a:pt x="12074487" y="35242"/>
                </a:moveTo>
                <a:lnTo>
                  <a:pt x="25" y="30480"/>
                </a:lnTo>
                <a:lnTo>
                  <a:pt x="0" y="76200"/>
                </a:lnTo>
                <a:lnTo>
                  <a:pt x="12074487" y="80962"/>
                </a:lnTo>
                <a:lnTo>
                  <a:pt x="12074487" y="35242"/>
                </a:lnTo>
                <a:close/>
              </a:path>
              <a:path extrusionOk="0" h="81279" w="12075160">
                <a:moveTo>
                  <a:pt x="12074614" y="4762"/>
                </a:moveTo>
                <a:lnTo>
                  <a:pt x="38" y="0"/>
                </a:lnTo>
                <a:lnTo>
                  <a:pt x="25" y="15240"/>
                </a:lnTo>
                <a:lnTo>
                  <a:pt x="12074614" y="20002"/>
                </a:lnTo>
                <a:lnTo>
                  <a:pt x="12074614" y="4762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graphicFrame>
        <p:nvGraphicFramePr>
          <p:cNvPr id="152" name="Google Shape;152;p26"/>
          <p:cNvGraphicFramePr/>
          <p:nvPr/>
        </p:nvGraphicFramePr>
        <p:xfrm>
          <a:off x="1439608" y="2358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{4925DA19-AE9B-4EFD-B349-A7B53D44E1C6}</a:tableStyleId>
              </a:tblPr>
              <a:tblGrid>
                <a:gridCol w="683425"/>
                <a:gridCol w="3348050"/>
                <a:gridCol w="2025500"/>
              </a:tblGrid>
              <a:tr h="277650"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2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Borude Yash Ambadas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UCS23M1020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4"/>
                    </a:solidFill>
                  </a:tcPr>
                </a:tc>
              </a:tr>
              <a:tr h="277650"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2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Chaudhari Abhishek Anil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3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UCS23M1021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3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</a:tr>
              <a:tr h="277650"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2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Langhi Roshan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3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UCS23M10</a:t>
                      </a: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3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4"/>
                    </a:solidFill>
                  </a:tcPr>
                </a:tc>
              </a:tr>
              <a:tr h="277650"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2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Mundhe Aditya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UCS23M10</a:t>
                      </a: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</a:tr>
              <a:tr h="277650"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118</a:t>
                      </a:r>
                      <a:endParaRPr sz="1200"/>
                    </a:p>
                  </a:txBody>
                  <a:tcPr marT="252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Shinde Tushar Maruti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rtl="0" algn="l">
                        <a:lnSpc>
                          <a:spcPct val="11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UCS23M1118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26"/>
          <p:cNvSpPr txBox="1"/>
          <p:nvPr/>
        </p:nvSpPr>
        <p:spPr>
          <a:xfrm>
            <a:off x="1880700" y="897075"/>
            <a:ext cx="5382600" cy="11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Presentation On Mini Project - Applied Data Science Laboratory (PCCO314A)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t>"Household Electricity Consumption Prediction Using ANN"</a:t>
            </a:r>
          </a:p>
          <a:p>
            <a:r>
              <a:t>BE / B.Tech 2025-26 SEM VII</a:t>
            </a:r>
          </a:p>
          <a:p/>
          <a:p>
            <a:r>
              <a:t>Presented By:</a:t>
            </a:r>
          </a:p>
          <a:p>
            <a:r>
              <a:t>1. Mundhe Aditya</a:t>
            </a:r>
          </a:p>
          <a:p>
            <a:r>
              <a:t>2. Borude Yash Ambadas</a:t>
            </a:r>
          </a:p>
          <a:p>
            <a:r>
              <a:t>3. Langhi Roshan</a:t>
            </a:r>
          </a:p>
          <a:p>
            <a:r>
              <a:t>4. Shinde Tushar Maruti</a:t>
            </a:r>
          </a:p>
          <a:p>
            <a:r>
              <a:t>5. Chaudhari Abhishek Anil</a:t>
            </a:r>
          </a:p>
        </p:txBody>
      </p:sp>
      <p:sp>
        <p:nvSpPr>
          <p:cNvPr id="154" name="Google Shape;154;p26"/>
          <p:cNvSpPr txBox="1"/>
          <p:nvPr/>
        </p:nvSpPr>
        <p:spPr>
          <a:xfrm>
            <a:off x="2761800" y="3788963"/>
            <a:ext cx="36204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550" wrap="square" tIns="9525">
            <a:spAutoFit/>
          </a:bodyPr>
          <a:lstStyle/>
          <a:p>
            <a:pPr indent="0" lvl="0" marL="812800" marR="762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Guided By:</a:t>
            </a:r>
            <a:endParaRPr b="1" sz="15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t>Prof. S. A. Shivarkar Sir</a:t>
            </a:r>
          </a:p>
          <a:p>
            <a:r>
              <a:t>Department of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/>
        </p:nvSpPr>
        <p:spPr>
          <a:xfrm>
            <a:off x="687476" y="4949723"/>
            <a:ext cx="762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2765012" y="4948352"/>
            <a:ext cx="33834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DEPARTMENT OF COMPUTER ENGINEERING, Sanjivani COE, Kopargaon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61" name="Google Shape;161;p27"/>
          <p:cNvSpPr txBox="1"/>
          <p:nvPr>
            <p:ph type="title"/>
          </p:nvPr>
        </p:nvSpPr>
        <p:spPr>
          <a:xfrm>
            <a:off x="3090101" y="224561"/>
            <a:ext cx="321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325">
            <a:spAutoFit/>
          </a:bodyPr>
          <a:lstStyle/>
          <a:p>
            <a:pPr indent="0" lvl="0" marL="863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Problem Definition</a:t>
            </a:r>
            <a:endParaRPr/>
          </a:p>
        </p:txBody>
      </p:sp>
      <p:sp>
        <p:nvSpPr>
          <p:cNvPr id="162" name="Google Shape;162;p27"/>
          <p:cNvSpPr txBox="1"/>
          <p:nvPr/>
        </p:nvSpPr>
        <p:spPr>
          <a:xfrm>
            <a:off x="831225" y="1122675"/>
            <a:ext cx="7572300" cy="3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t>Energy Grid Dynamics: Rapid fluctuations in household power consumption cause grid load imbalances.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t>Peak Demand Penalties: Unpredicted consumption spikes result in higher utility costs and equipment stress.</a:t>
            </a:r>
          </a:p>
          <a:p>
            <a:r>
              <a:t>High Telemetry Volume: Raw smart meter data (2.07M+ 1-minute records) requires automated real-time processing.</a:t>
            </a:r>
          </a:p>
          <a:p>
            <a:r>
              <a:t>Inefficient Static Models: Traditional linear models fail to capture complex non-linear electrical relationships.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/>
        </p:nvSpPr>
        <p:spPr>
          <a:xfrm>
            <a:off x="583325" y="1330850"/>
            <a:ext cx="7621500" cy="2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t>Telemetry Data Ingestion: Process 2.07M+ minute-level records from UCI Household Power dataset.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t>Feature Engineering &amp; Scaling: Extract temporal features (Hour, Day, Month, DayOfWeek) &amp; scale inputs.</a:t>
            </a:r>
          </a:p>
          <a:p>
            <a:r>
              <a:t>Deep Neural Network Training: Train a Deep ANN with Batch Normalization and Dropout (0.2).</a:t>
            </a:r>
          </a:p>
          <a:p>
            <a:r>
              <a:t>High Prediction Accuracy: Achieve high accuracy (R² &gt; 99%) for instantaneous power consumption (kW).</a:t>
            </a:r>
          </a:p>
          <a:p>
            <a:r>
              <a:t>Interactive Web Deployment: Build a theme-adaptive Streamlit Dashboard with tariff cost calculation &amp; batch prediction.</a:t>
            </a:r>
          </a:p>
        </p:txBody>
      </p:sp>
      <p:sp>
        <p:nvSpPr>
          <p:cNvPr id="168" name="Google Shape;168;p28"/>
          <p:cNvSpPr txBox="1"/>
          <p:nvPr/>
        </p:nvSpPr>
        <p:spPr>
          <a:xfrm>
            <a:off x="687476" y="4949723"/>
            <a:ext cx="762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DEPARTMENT OF COMPUTER ENGINEERING, Sanjivani COE, Kopargaon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2765012" y="4948352"/>
            <a:ext cx="33834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Objectives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70" name="Google Shape;170;p28"/>
          <p:cNvSpPr txBox="1"/>
          <p:nvPr>
            <p:ph type="title"/>
          </p:nvPr>
        </p:nvSpPr>
        <p:spPr>
          <a:xfrm>
            <a:off x="3090101" y="224561"/>
            <a:ext cx="321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325">
            <a:spAutoFit/>
          </a:bodyPr>
          <a:lstStyle/>
          <a:p>
            <a:pPr indent="0" lvl="0" marL="863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/>
        </p:nvSpPr>
        <p:spPr>
          <a:xfrm>
            <a:off x="687476" y="4949723"/>
            <a:ext cx="762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9"/>
          <p:cNvSpPr txBox="1"/>
          <p:nvPr/>
        </p:nvSpPr>
        <p:spPr>
          <a:xfrm>
            <a:off x="2765012" y="4948352"/>
            <a:ext cx="33834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DEPARTMENT OF COMPUTER ENGINEERING, Sanjivani COE, Kopargaon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77" name="Google Shape;177;p29"/>
          <p:cNvSpPr txBox="1"/>
          <p:nvPr>
            <p:ph type="title"/>
          </p:nvPr>
        </p:nvSpPr>
        <p:spPr>
          <a:xfrm>
            <a:off x="3090101" y="224561"/>
            <a:ext cx="321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Dataset Description</a:t>
            </a:r>
            <a:endParaRPr/>
          </a:p>
        </p:txBody>
      </p:sp>
      <p:graphicFrame>
        <p:nvGraphicFramePr>
          <p:cNvPr id="178" name="Google Shape;178;p29"/>
          <p:cNvGraphicFramePr/>
          <p:nvPr/>
        </p:nvGraphicFramePr>
        <p:xfrm>
          <a:off x="397825" y="1113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{A4B6E7EE-14F6-4226-B892-180207709AC5}</a:tableStyleId>
              </a:tblPr>
              <a:tblGrid>
                <a:gridCol w="1807000"/>
                <a:gridCol w="2492350"/>
              </a:tblGrid>
              <a:tr h="375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Attribute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Details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Name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FootWare_Wholesale_Sales_Dataset.csv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Records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11,115 wholesale transactions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Original Features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columns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Goal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Forecast footwear wholesale demand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 Variable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Quantity Sold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Learning Models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Forest, XGBoost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29"/>
          <p:cNvSpPr txBox="1"/>
          <p:nvPr/>
        </p:nvSpPr>
        <p:spPr>
          <a:xfrm>
            <a:off x="397825" y="3805475"/>
            <a:ext cx="44262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Target Variable: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t>Global_active_power (kW) - Household active electrical power</a:t>
            </a:r>
          </a:p>
        </p:txBody>
      </p:sp>
      <p:sp>
        <p:nvSpPr>
          <p:cNvPr id="180" name="Google Shape;180;p29"/>
          <p:cNvSpPr/>
          <p:nvPr/>
        </p:nvSpPr>
        <p:spPr>
          <a:xfrm>
            <a:off x="5011500" y="1191425"/>
            <a:ext cx="3853500" cy="3218100"/>
          </a:xfrm>
          <a:prstGeom prst="flowChartAlternateProcess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Key Input Features: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t>Global_reactive_power (kVAR) - Household reactive power</a:t>
            </a:r>
          </a:p>
          <a:p>
            <a:r>
              <a:t>Voltage (V) - Measured household voltage</a:t>
            </a:r>
          </a:p>
          <a:p>
            <a:r>
              <a:t>Global_intensity (A) - Current intensity in amperes</a:t>
            </a:r>
          </a:p>
          <a:p>
            <a:r>
              <a:t>Sub_metering_1 (Wh) - Kitchen appliances (dishwasher, oven)</a:t>
            </a:r>
          </a:p>
          <a:p>
            <a:r>
              <a:t>Sub_metering_2 (Wh) - Laundry room (washing machine, fridge)</a:t>
            </a:r>
          </a:p>
          <a:p>
            <a:r>
              <a:t>Sub_metering_3 (Wh) - Climate control (AC, water heater)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2569375" y="234950"/>
            <a:ext cx="4170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Feature Engineering &amp; Preprocessing</a:t>
            </a:r>
            <a:endParaRPr/>
          </a:p>
        </p:txBody>
      </p:sp>
      <p:sp>
        <p:nvSpPr>
          <p:cNvPr id="186" name="Google Shape;186;p30"/>
          <p:cNvSpPr/>
          <p:nvPr/>
        </p:nvSpPr>
        <p:spPr>
          <a:xfrm>
            <a:off x="164125" y="951900"/>
            <a:ext cx="1931400" cy="3093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1. Temporal Features Extracted</a:t>
            </a:r>
            <a:endParaRPr b="1" sz="13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t>Hour of Day (0-23)</a:t>
            </a:r>
          </a:p>
          <a:p>
            <a:r>
              <a:t>Day of Month (1-31)</a:t>
            </a:r>
          </a:p>
          <a:p>
            <a:r>
              <a:t>Month (1-12)</a:t>
            </a:r>
          </a:p>
          <a:p>
            <a:r>
              <a:t>Day of Week (Monday-Sunday)</a:t>
            </a:r>
          </a:p>
        </p:txBody>
      </p:sp>
      <p:sp>
        <p:nvSpPr>
          <p:cNvPr id="187" name="Google Shape;187;p30"/>
          <p:cNvSpPr/>
          <p:nvPr/>
        </p:nvSpPr>
        <p:spPr>
          <a:xfrm>
            <a:off x="2182948" y="951900"/>
            <a:ext cx="1509300" cy="3093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>2. Data Cleaning</a:t>
            </a:r>
            <a:endParaRPr b="1" sz="13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t>Converted missing '?' values to NaN</a:t>
            </a:r>
          </a:p>
          <a:p>
            <a:r>
              <a:t>Numeric datatype casting</a:t>
            </a:r>
          </a:p>
          <a:p>
            <a:r>
              <a:t>Chronological sorting by Datetime</a:t>
            </a:r>
          </a:p>
        </p:txBody>
      </p:sp>
      <p:sp>
        <p:nvSpPr>
          <p:cNvPr id="188" name="Google Shape;188;p30"/>
          <p:cNvSpPr/>
          <p:nvPr/>
        </p:nvSpPr>
        <p:spPr>
          <a:xfrm>
            <a:off x="3779675" y="951900"/>
            <a:ext cx="2200500" cy="3093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3. Scaling &amp; Train Split</a:t>
            </a:r>
            <a:endParaRPr b="1" sz="13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t>Applied StandardScaler to prevent leakage</a:t>
            </a:r>
          </a:p>
          <a:p>
            <a:r>
              <a:t>80% Training / 20% Testing split</a:t>
            </a:r>
          </a:p>
        </p:txBody>
      </p:sp>
      <p:sp>
        <p:nvSpPr>
          <p:cNvPr id="189" name="Google Shape;189;p30"/>
          <p:cNvSpPr/>
          <p:nvPr/>
        </p:nvSpPr>
        <p:spPr>
          <a:xfrm>
            <a:off x="6067600" y="951900"/>
            <a:ext cx="2745300" cy="3093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>Pipeline Output: Cleaned, scaled feature matrix ready for neural network training.</a:t>
            </a:r>
            <a:endParaRPr b="1" sz="13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679450" y="4149150"/>
            <a:ext cx="804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 transforms raw data into meaningful numerical features that help machine learning models capture seasonality, trends, and historical demand patterns.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3090101" y="224561"/>
            <a:ext cx="3219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Model Development (ANN Architecture)</a:t>
            </a:r>
            <a:endParaRPr/>
          </a:p>
        </p:txBody>
      </p:sp>
      <p:sp>
        <p:nvSpPr>
          <p:cNvPr id="196" name="Google Shape;196;p31"/>
          <p:cNvSpPr txBox="1"/>
          <p:nvPr/>
        </p:nvSpPr>
        <p:spPr>
          <a:xfrm>
            <a:off x="491575" y="1024800"/>
            <a:ext cx="8154600" cy="3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t>Deep Neural Network Architecture: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t>Input Layer: 10 Scaled Features</a:t>
            </a:r>
          </a:p>
          <a:p>
            <a:r>
              <a:t>Dense Layer 1: 64 Neurons (ReLU activation)</a:t>
            </a:r>
          </a:p>
          <a:p>
            <a:r>
              <a:t>Batch Normalization + Dropout (0.2 rate)</a:t>
            </a:r>
          </a:p>
          <a:p>
            <a:r>
              <a:t>Dense Layer 2: 32 Neurons (ReLU activation) + Dropout (0.2)</a:t>
            </a:r>
          </a:p>
          <a:p>
            <a:r>
              <a:t>Dense Layer 3: 16 Neurons (ReLU activation)</a:t>
            </a:r>
          </a:p>
          <a:p>
            <a:r>
              <a:t>Output Layer: 1 Neuron (Linear activation for kW regression)</a:t>
            </a:r>
          </a:p>
          <a:p/>
          <a:p>
            <a:r>
              <a:t>Optimizer &amp; Loss Function: Adam Optimizer with Mean Squared Error (MSE).</a:t>
            </a:r>
          </a:p>
          <a:p>
            <a:r>
              <a:t>Model Saving: Saved as electricity_ann.keras and lightweight ann_weights.pkl.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/>
        </p:nvSpPr>
        <p:spPr>
          <a:xfrm>
            <a:off x="344775" y="1226499"/>
            <a:ext cx="4900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32"/>
          <p:cNvSpPr txBox="1"/>
          <p:nvPr/>
        </p:nvSpPr>
        <p:spPr>
          <a:xfrm>
            <a:off x="687476" y="4949723"/>
            <a:ext cx="762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DEPARTMENT OF COMPUTER ENGINEERING, Sanjivani COE, Kopargaon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2"/>
          <p:cNvSpPr txBox="1"/>
          <p:nvPr/>
        </p:nvSpPr>
        <p:spPr>
          <a:xfrm>
            <a:off x="2765012" y="4948352"/>
            <a:ext cx="33834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System Architecture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204" name="Google Shape;204;p32"/>
          <p:cNvSpPr txBox="1"/>
          <p:nvPr>
            <p:ph type="title"/>
          </p:nvPr>
        </p:nvSpPr>
        <p:spPr>
          <a:xfrm>
            <a:off x="3090101" y="224561"/>
            <a:ext cx="321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325">
            <a:spAutoFit/>
          </a:bodyPr>
          <a:lstStyle/>
          <a:p>
            <a:pPr indent="0" lvl="0" marL="863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End-to-End System Pipeline &amp; Workflow</a:t>
            </a:r>
            <a:endParaRPr/>
          </a:p>
        </p:txBody>
      </p:sp>
      <p:pic>
        <p:nvPicPr>
          <p:cNvPr id="205" name="Google Shape;205;p32" title="Screenshot 2026-04-23 110618.png"/>
          <p:cNvPicPr preferRelativeResize="0"/>
          <p:nvPr/>
        </p:nvPicPr>
        <p:blipFill rotWithShape="1">
          <a:blip r:embed="rId3">
            <a:alphaModFix/>
          </a:blip>
          <a:srcRect b="0" l="0" r="0" t="8467"/>
          <a:stretch/>
        </p:blipFill>
        <p:spPr>
          <a:xfrm>
            <a:off x="1428300" y="1056582"/>
            <a:ext cx="6287400" cy="3267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2"/>
          <p:cNvSpPr txBox="1"/>
          <p:nvPr/>
        </p:nvSpPr>
        <p:spPr>
          <a:xfrm>
            <a:off x="1070100" y="4241800"/>
            <a:ext cx="70038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Raw Telemetry -&gt; Preprocessing &amp; Scaling -&gt; Deep ANN Engine -&gt; Streamlit Web UI &amp; Tariff Calculator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/>
        </p:nvSpPr>
        <p:spPr>
          <a:xfrm>
            <a:off x="687476" y="4949723"/>
            <a:ext cx="762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3"/>
          <p:cNvSpPr txBox="1"/>
          <p:nvPr/>
        </p:nvSpPr>
        <p:spPr>
          <a:xfrm>
            <a:off x="2765012" y="4948352"/>
            <a:ext cx="33834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DEPARTMENT OF COMPUTER ENGINEERING, Sanjivani COE, Kopargaon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213" name="Google Shape;213;p33"/>
          <p:cNvSpPr txBox="1"/>
          <p:nvPr>
            <p:ph type="title"/>
          </p:nvPr>
        </p:nvSpPr>
        <p:spPr>
          <a:xfrm>
            <a:off x="3090101" y="224561"/>
            <a:ext cx="321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325">
            <a:spAutoFit/>
          </a:bodyPr>
          <a:lstStyle/>
          <a:p>
            <a:pPr indent="0" lvl="0" marL="863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Result Analysis &amp; Metrics</a:t>
            </a:r>
            <a:endParaRPr/>
          </a:p>
        </p:txBody>
      </p:sp>
      <p:graphicFrame>
        <p:nvGraphicFramePr>
          <p:cNvPr id="214" name="Google Shape;214;p33"/>
          <p:cNvGraphicFramePr/>
          <p:nvPr/>
        </p:nvGraphicFramePr>
        <p:xfrm>
          <a:off x="181800" y="111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{A4B6E7EE-14F6-4226-B892-180207709AC5}</a:tableStyleId>
              </a:tblPr>
              <a:tblGrid>
                <a:gridCol w="835050"/>
                <a:gridCol w="1397450"/>
                <a:gridCol w="2157700"/>
              </a:tblGrid>
              <a:tr h="300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Interpretation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2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Best Model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XGBoost (Tuned)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Highest forecasting accuracy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5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R² Score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0.8451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Explains 84.5% of demand variation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5.56 units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Average prediction error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8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11.4%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 percentage forecasting error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5" name="Google Shape;215;p33"/>
          <p:cNvSpPr/>
          <p:nvPr/>
        </p:nvSpPr>
        <p:spPr>
          <a:xfrm>
            <a:off x="4803200" y="961525"/>
            <a:ext cx="3915900" cy="343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Quantitative Evaluation Metrics: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t>Mean Absolute Error (MAE): 0.0573 kW (~57 Watts error)</a:t>
            </a:r>
          </a:p>
          <a:p>
            <a:r>
              <a:t>Mean Squared Error (MSE): 0.0061 kW²</a:t>
            </a:r>
          </a:p>
          <a:p>
            <a:r>
              <a:t>Root Mean Squared Error (RMSE): 0.0783 kW</a:t>
            </a:r>
          </a:p>
          <a:p>
            <a:r>
              <a:t>R² Accuracy Score: 0.9943 (99.43% variance explained)</a:t>
            </a:r>
          </a:p>
        </p:txBody>
      </p:sp>
      <p:sp>
        <p:nvSpPr>
          <p:cNvPr id="216" name="Google Shape;216;p33"/>
          <p:cNvSpPr txBox="1"/>
          <p:nvPr/>
        </p:nvSpPr>
        <p:spPr>
          <a:xfrm>
            <a:off x="181800" y="3634413"/>
            <a:ext cx="4551300" cy="11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Key Finding: Deep ANN with Batch Normalization achieves exceptional precision in tracking rapid household electrical load changes.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/>
        </p:nvSpPr>
        <p:spPr>
          <a:xfrm>
            <a:off x="687476" y="4949723"/>
            <a:ext cx="762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4"/>
          <p:cNvSpPr txBox="1"/>
          <p:nvPr/>
        </p:nvSpPr>
        <p:spPr>
          <a:xfrm>
            <a:off x="2765012" y="4948352"/>
            <a:ext cx="33834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DEPARTMENT OF COMPUTER ENGINEERING, Sanjivani COE, Kopargaon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223" name="Google Shape;223;p34"/>
          <p:cNvSpPr txBox="1"/>
          <p:nvPr>
            <p:ph type="title"/>
          </p:nvPr>
        </p:nvSpPr>
        <p:spPr>
          <a:xfrm>
            <a:off x="3090101" y="224561"/>
            <a:ext cx="321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325">
            <a:spAutoFit/>
          </a:bodyPr>
          <a:lstStyle/>
          <a:p>
            <a:pPr indent="0" lvl="0" marL="863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Conclusion</a:t>
            </a:r>
            <a:endParaRPr/>
          </a:p>
        </p:txBody>
      </p:sp>
      <p:sp>
        <p:nvSpPr>
          <p:cNvPr id="224" name="Google Shape;224;p34"/>
          <p:cNvSpPr txBox="1"/>
          <p:nvPr/>
        </p:nvSpPr>
        <p:spPr>
          <a:xfrm>
            <a:off x="522800" y="1170300"/>
            <a:ext cx="82692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t>High Forecasting Accuracy: ANN model achieves R² = 0.9943 with MAE of 0.0573 kW.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t>Effective Regularization: Batch Normalization and Dropout prevented overfitting across 2M+ samples.</a:t>
            </a:r>
          </a:p>
          <a:p>
            <a:r>
              <a:t>Real-Time Analytics: Streamlit app provides real-time single &amp; batch CSV predictions.</a:t>
            </a:r>
          </a:p>
          <a:p>
            <a:r>
              <a:t>Tariff Estimation: Integrated Indian electricity cost calculator (₹/kWh) for consumer utility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/>
        </p:nvSpPr>
        <p:spPr>
          <a:xfrm>
            <a:off x="687476" y="4949723"/>
            <a:ext cx="762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1. Machine Learning Methodology (Research Paper): M. Brundage et al., "CRISP-ML(Q): A Process Model for Machine Learning Development," arXiv preprint, 2020. 🔗 https://arxiv.org/abs/2003.05155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r>
              <a:t>2. Data Science Framework: IBM, "CRISP-DM Methodology," 2024. 🔗 https://www.ibm.com/topics/crisp-dm</a:t>
            </a:r>
          </a:p>
          <a:p>
            <a:r>
              <a:t>3. Deep Learning Framework: TensorFlow &amp; Keras Developers, "TensorFlow Core Documentation," 2024. 🔗 https://www.tensorflow.org/api_docs</a:t>
            </a:r>
          </a:p>
          <a:p>
            <a:r>
              <a:t>4. Machine Learning Library: scikit-learn Developers, "scikit-learn Documentation," 2024. 🔗 https://scikit-learn.org/stable/documentation.html</a:t>
            </a:r>
          </a:p>
          <a:p>
            <a:r>
              <a:t>5. Project Dataset Source: UCI Machine Learning Repository, "Individual Household Electric Power Consumption Dataset," 2024. 🔗 https://archive.ics.uci.edu/dataset/235/individual+household+electric+power+consumption</a:t>
            </a:r>
          </a:p>
          <a:p>
            <a:r>
              <a:t>6. Web Application &amp; Visualization: Streamlit &amp; Plotly Developers, "Streamlit Documentation," 2024. 🔗 https://docs.streamlit.io/</a:t>
            </a:r>
          </a:p>
        </p:txBody>
      </p:sp>
      <p:sp>
        <p:nvSpPr>
          <p:cNvPr id="230" name="Google Shape;230;p35"/>
          <p:cNvSpPr txBox="1"/>
          <p:nvPr/>
        </p:nvSpPr>
        <p:spPr>
          <a:xfrm>
            <a:off x="2765012" y="4948352"/>
            <a:ext cx="33834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DEPARTMENT OF COMPUTER ENGINEERING, Sanjivani COE, Kopargaon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231" name="Google Shape;231;p35"/>
          <p:cNvSpPr txBox="1"/>
          <p:nvPr>
            <p:ph type="title"/>
          </p:nvPr>
        </p:nvSpPr>
        <p:spPr>
          <a:xfrm>
            <a:off x="3090101" y="224561"/>
            <a:ext cx="321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325">
            <a:spAutoFit/>
          </a:bodyPr>
          <a:lstStyle/>
          <a:p>
            <a:pPr indent="0" lvl="0" marL="863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References &amp; Quality Assurance</a:t>
            </a:r>
            <a:endParaRPr/>
          </a:p>
        </p:txBody>
      </p:sp>
      <p:sp>
        <p:nvSpPr>
          <p:cNvPr id="232" name="Google Shape;232;p35"/>
          <p:cNvSpPr txBox="1"/>
          <p:nvPr/>
        </p:nvSpPr>
        <p:spPr>
          <a:xfrm>
            <a:off x="843650" y="1078650"/>
            <a:ext cx="7226100" cy="3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t>1. Machine Learning Methodology (Research Paper): M. Brundage et al., "CRISP-ML(Q): A Process Model for Machine Learning Development," arXiv preprint, 2020. 🔗 https://arxiv.org/abs/2003.05155</a:t>
            </a:r>
            <a:endParaRPr sz="15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t>2. Data Science Framework: IBM, "CRISP-DM Methodology," 2024. 🔗 https://www.ibm.com/topics/crisp-dm</a:t>
            </a:r>
          </a:p>
          <a:p>
            <a:r>
              <a:t>3. Deep Learning Framework: TensorFlow &amp; Keras Developers, "TensorFlow Core Documentation," 2024. 🔗 https://www.tensorflow.org/api_docs</a:t>
            </a:r>
          </a:p>
          <a:p>
            <a:r>
              <a:t>4. Machine Learning Library: scikit-learn Developers, "scikit-learn Documentation," 2024. 🔗 https://scikit-learn.org/stable/documentation.html</a:t>
            </a:r>
          </a:p>
          <a:p>
            <a:r>
              <a:t>5. Project Dataset Source: UCI Machine Learning Repository, "Individual Household Electric Power Consumption Dataset," 2024. 🔗 https://archive.ics.uci.edu/dataset/235/individual+household+electric+power+consumption</a:t>
            </a:r>
          </a:p>
          <a:p>
            <a:r>
              <a:t>6. Web Application &amp; Visualization: Streamlit &amp; Plotly Developers, "Streamlit Documentation," 2024. 🔗 https://docs.streamlit.io/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/>
        </p:nvSpPr>
        <p:spPr>
          <a:xfrm>
            <a:off x="910600" y="1920850"/>
            <a:ext cx="6381900" cy="17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863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THANK YOU!!</a:t>
            </a:r>
            <a:endParaRPr b="1" sz="5600">
              <a:solidFill>
                <a:srgbClr val="66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